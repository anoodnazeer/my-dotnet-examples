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66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38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566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79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3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4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0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08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7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2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3392C2A-E2D2-417F-A07B-A05C9650A58B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DB39F0C-5A46-4C5D-B062-8C2B09FD89D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145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9E30-781F-41AC-B605-63F64BD3C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407760"/>
          </a:xfrm>
        </p:spPr>
        <p:txBody>
          <a:bodyPr>
            <a:normAutofit/>
          </a:bodyPr>
          <a:lstStyle/>
          <a:p>
            <a:r>
              <a:rPr lang="en-US" sz="4800" b="1" dirty="0"/>
              <a:t>Introduction</a:t>
            </a:r>
            <a:r>
              <a:rPr lang="en-US" sz="4800" b="1" dirty="0">
                <a:latin typeface="+mn-lt"/>
              </a:rPr>
              <a:t> to JavaScript– Basic Facts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CFF1A-4E03-444F-B780-71DDB10CD9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 err="1">
                <a:latin typeface="+mn-lt"/>
              </a:rPr>
              <a:t>PrePAred</a:t>
            </a:r>
            <a:r>
              <a:rPr lang="en-US" sz="1600" dirty="0">
                <a:latin typeface="+mn-lt"/>
              </a:rPr>
              <a:t> by  </a:t>
            </a:r>
            <a:r>
              <a:rPr lang="en-US" sz="1600" dirty="0" err="1">
                <a:latin typeface="+mn-lt"/>
              </a:rPr>
              <a:t>anood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nazeer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4863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BA93-EBE0-4F0D-A0E0-C93E2F4BB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JavaScript?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F4FE55-43A8-4441-8F20-F5DDDF8740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72258"/>
            <a:ext cx="1022170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It is a popular scripting language used for web development.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Web Pages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It makes websites dynamic and interactive (e.g., animations, pop-ups).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Client-Side &amp; Server-Side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Works in browsers (client-side) and on servers (e.g., Node.js).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Responds to user actions like clicks, typing, and mouse movements.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Works on different devices and operating systems.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&amp; Fast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Executes quickly in the browser without requiring installation.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Versatile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for building web apps, games, and even mobile applications.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2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6A3EC-29BA-4FB4-97BC-E7802BCF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JavaScript?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8B3EFE-5644-4A91-B84D-98C44F9D54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72258"/>
            <a:ext cx="1001665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Popular and In-Demand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Widely used in web development with high job demand.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Websites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Helps create dynamic and user-friendly web pages.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Versatile Language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for websites, web apps, mobile apps, and more.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and Server-Side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Works on both web browsers (front-end) and servers (back-end).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Learn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Beginner-friendly with many resources and a large community.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Career Opportunities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Opens doors to various tech careers like web development.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Web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Essential for using frameworks like React, Angular, and Node.js.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11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632A-94D5-44E9-AEC0-F2E6301A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JavaScript Do?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F83AEC-2988-407B-92ED-75FDF43621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733758"/>
            <a:ext cx="1021311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Interactivity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Creates dynamic elements like pop-ups, sliders, and forms.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Manipulate Web Pages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Changes HTML and CSS to update content and style.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Events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Responds to user actions like clicks, typing, and scrolling.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Forms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Checks user input before sending data to the server.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Animations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Builds visual effects and smooth transitions.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Communicate with Servers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Sends and receives data without reloading the page (e.g., AJAX).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to develop web apps, mobile apps, and games.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70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22AAE1-B408-457F-9B7A-812EA3024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0230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A simple </a:t>
            </a:r>
            <a:r>
              <a:rPr lang="en-US" sz="2400" dirty="0" err="1">
                <a:latin typeface="+mn-lt"/>
              </a:rPr>
              <a:t>javascript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programe</a:t>
            </a:r>
            <a:r>
              <a:rPr lang="en-US" sz="2400" dirty="0">
                <a:latin typeface="+mn-lt"/>
              </a:rPr>
              <a:t>….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87DC78-B400-436F-9B8A-8228B4E01D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2010499"/>
            <a:ext cx="4877118" cy="3195777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57E7F-A814-4444-85C2-D674E96595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Output is……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90C444-C28C-4CBA-A56D-BF5E9CF6B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902" y="2572543"/>
            <a:ext cx="3692528" cy="180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28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EC5CC-E087-417E-B1F1-192F66C9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59317"/>
          </a:xfrm>
        </p:spPr>
        <p:txBody>
          <a:bodyPr>
            <a:normAutofit/>
          </a:bodyPr>
          <a:lstStyle/>
          <a:p>
            <a:r>
              <a:rPr lang="en-US" sz="2400" b="1" dirty="0"/>
              <a:t>JavaScript syntax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74D64-AEE3-4171-9F6D-002EBF00D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21304"/>
            <a:ext cx="10058400" cy="3847789"/>
          </a:xfrm>
        </p:spPr>
        <p:txBody>
          <a:bodyPr/>
          <a:lstStyle/>
          <a:p>
            <a:r>
              <a:rPr lang="en-US" b="1" dirty="0"/>
              <a:t>JavaScript syntax</a:t>
            </a:r>
            <a:r>
              <a:rPr lang="en-US" dirty="0"/>
              <a:t> is the set of rules that defines how JavaScript programs are written and understood by the computer</a:t>
            </a:r>
          </a:p>
          <a:p>
            <a:endParaRPr lang="en-US" dirty="0"/>
          </a:p>
          <a:p>
            <a:r>
              <a:rPr lang="en-US" b="1" dirty="0"/>
              <a:t>1. Statements</a:t>
            </a:r>
          </a:p>
          <a:p>
            <a:r>
              <a:rPr lang="en-US" dirty="0"/>
              <a:t>A </a:t>
            </a:r>
            <a:r>
              <a:rPr lang="en-US" b="1" dirty="0"/>
              <a:t>statement</a:t>
            </a:r>
            <a:r>
              <a:rPr lang="en-US" dirty="0"/>
              <a:t> is an instruction that performs an action.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D9300A-585D-469C-AFEF-52313C280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655" y="4219741"/>
            <a:ext cx="5438529" cy="83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113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53301-97E5-450B-BB7F-6FA0DAD1BB5A}"/>
              </a:ext>
            </a:extLst>
          </p:cNvPr>
          <p:cNvSpPr txBox="1"/>
          <p:nvPr/>
        </p:nvSpPr>
        <p:spPr>
          <a:xfrm>
            <a:off x="500514" y="307290"/>
            <a:ext cx="8588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Variables</a:t>
            </a:r>
          </a:p>
          <a:p>
            <a:r>
              <a:rPr lang="en-US" b="1" dirty="0"/>
              <a:t>Variables</a:t>
            </a:r>
            <a:r>
              <a:rPr lang="en-US" dirty="0"/>
              <a:t> store data (like numbers, text, etc.).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931286-385E-4192-BCA2-FA71D212E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83" y="1187685"/>
            <a:ext cx="4401164" cy="766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128CD9-7F5B-4F77-A6F7-7984BB173740}"/>
              </a:ext>
            </a:extLst>
          </p:cNvPr>
          <p:cNvSpPr txBox="1"/>
          <p:nvPr/>
        </p:nvSpPr>
        <p:spPr>
          <a:xfrm>
            <a:off x="500514" y="2312402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Data Types</a:t>
            </a:r>
          </a:p>
          <a:p>
            <a:r>
              <a:rPr lang="en-US" dirty="0"/>
              <a:t>JavaScript has different types of data: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D15A87-31B6-4E9B-973D-E3C812047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93" y="3079153"/>
            <a:ext cx="7935432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44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8BB273-4568-40E4-81C8-CDBEF00BFBEC}"/>
              </a:ext>
            </a:extLst>
          </p:cNvPr>
          <p:cNvSpPr txBox="1"/>
          <p:nvPr/>
        </p:nvSpPr>
        <p:spPr>
          <a:xfrm>
            <a:off x="767615" y="490169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Functions</a:t>
            </a:r>
          </a:p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 is a reusable block of code.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493A0-468C-4698-A119-5F0119228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2" y="1371314"/>
            <a:ext cx="5831653" cy="1352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D32BEC-F46B-4B6A-95A1-F5259AD37B7C}"/>
              </a:ext>
            </a:extLst>
          </p:cNvPr>
          <p:cNvSpPr txBox="1"/>
          <p:nvPr/>
        </p:nvSpPr>
        <p:spPr>
          <a:xfrm>
            <a:off x="767615" y="3105834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Conditions</a:t>
            </a:r>
          </a:p>
          <a:p>
            <a:r>
              <a:rPr lang="en-US" b="1" dirty="0"/>
              <a:t>If...else</a:t>
            </a:r>
            <a:r>
              <a:rPr lang="en-US" dirty="0"/>
              <a:t> checks if something is true and decides what to do.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A63B02-F24A-4F87-AF2C-6A5FF72A2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2" y="3867353"/>
            <a:ext cx="5831653" cy="217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46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BEE299-C22E-4556-9BDD-833D2EB66B59}"/>
              </a:ext>
            </a:extLst>
          </p:cNvPr>
          <p:cNvSpPr txBox="1"/>
          <p:nvPr/>
        </p:nvSpPr>
        <p:spPr>
          <a:xfrm>
            <a:off x="892743" y="519045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Loops</a:t>
            </a:r>
          </a:p>
          <a:p>
            <a:r>
              <a:rPr lang="en-US" b="1" dirty="0"/>
              <a:t>Loops</a:t>
            </a:r>
            <a:r>
              <a:rPr lang="en-US" dirty="0"/>
              <a:t> repeat a block of code.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982DF-3630-40F5-8B3A-BFE530D61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43" y="1412627"/>
            <a:ext cx="4677428" cy="1876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381325-9A22-454F-B59E-105E6BFCB05A}"/>
              </a:ext>
            </a:extLst>
          </p:cNvPr>
          <p:cNvSpPr txBox="1"/>
          <p:nvPr/>
        </p:nvSpPr>
        <p:spPr>
          <a:xfrm>
            <a:off x="738739" y="3568687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7. Comments</a:t>
            </a:r>
          </a:p>
          <a:p>
            <a:r>
              <a:rPr lang="en-US" b="1" dirty="0"/>
              <a:t>Comments</a:t>
            </a:r>
            <a:r>
              <a:rPr lang="en-US" dirty="0"/>
              <a:t> explain your code (ignored by the computer).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CFFA73-B49C-49DD-BB8D-2337C959C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66" y="4391234"/>
            <a:ext cx="5715798" cy="183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1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D81E9F-F5D7-45CD-BFA3-BC931F964886}"/>
              </a:ext>
            </a:extLst>
          </p:cNvPr>
          <p:cNvSpPr txBox="1"/>
          <p:nvPr/>
        </p:nvSpPr>
        <p:spPr>
          <a:xfrm>
            <a:off x="700238" y="268789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8. Arrays</a:t>
            </a:r>
          </a:p>
          <a:p>
            <a:r>
              <a:rPr lang="en-US" b="1" dirty="0"/>
              <a:t>Store a list of values.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976B9-4111-41D8-88A9-E5312C52D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38" y="1030599"/>
            <a:ext cx="4963218" cy="10099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788E21-47FA-49C4-8D58-ABBB03A790E0}"/>
              </a:ext>
            </a:extLst>
          </p:cNvPr>
          <p:cNvSpPr txBox="1"/>
          <p:nvPr/>
        </p:nvSpPr>
        <p:spPr>
          <a:xfrm>
            <a:off x="700238" y="2461910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9. Objects</a:t>
            </a:r>
          </a:p>
          <a:p>
            <a:r>
              <a:rPr lang="en-US" b="1" dirty="0"/>
              <a:t>Store related data together.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487F42-DA82-49BB-A320-FFA1CA328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35" y="3293397"/>
            <a:ext cx="5306165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810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4A1FB7-8304-4866-BCF1-DD063082D715}"/>
              </a:ext>
            </a:extLst>
          </p:cNvPr>
          <p:cNvSpPr txBox="1"/>
          <p:nvPr/>
        </p:nvSpPr>
        <p:spPr>
          <a:xfrm>
            <a:off x="757989" y="769302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10. Events</a:t>
            </a:r>
          </a:p>
          <a:p>
            <a:r>
              <a:rPr lang="en-US" b="1" dirty="0"/>
              <a:t>React to user actions (like clicks).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94B21-E715-4E97-ADC7-080DC3608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89" y="1802599"/>
            <a:ext cx="6573167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00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7B2E9F-EE8A-4409-8492-2683046AC07C}"/>
              </a:ext>
            </a:extLst>
          </p:cNvPr>
          <p:cNvSpPr txBox="1"/>
          <p:nvPr/>
        </p:nvSpPr>
        <p:spPr>
          <a:xfrm>
            <a:off x="1152625" y="657545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where to place </a:t>
            </a:r>
            <a:r>
              <a:rPr lang="en-US" sz="2400" b="1" dirty="0" err="1"/>
              <a:t>javascript</a:t>
            </a:r>
            <a:r>
              <a:rPr lang="en-US" sz="2400" b="1" dirty="0"/>
              <a:t> in html</a:t>
            </a:r>
            <a:r>
              <a:rPr lang="en-US" sz="2400" dirty="0"/>
              <a:t>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B5E802-2083-4324-A496-281AE7457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625" y="1578328"/>
            <a:ext cx="901131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Inside the &lt;head&gt;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JavaScript in the &lt;head&gt; section is useful for functions needed before the page loads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2AE8D9-5BAE-4025-84C0-6AE5FF653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507" y="2457672"/>
            <a:ext cx="7859000" cy="374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64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310C26-242A-490E-9D41-90C28AFA0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8286" y="519550"/>
            <a:ext cx="640130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Inside the &lt;body &gt;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Place JavaScript here if you want to run it as the page loads.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9E29ED-E559-4D27-BE96-8C491C4AC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396" y="1496944"/>
            <a:ext cx="6780103" cy="431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50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5EAB1F-F8B9-4CED-8245-8986BDB37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412" y="304048"/>
            <a:ext cx="687553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External JavaScript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Best for keeping your HTML  clean by linking to a separate 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12393-6C3E-469E-A914-4251AD297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412" y="1288933"/>
            <a:ext cx="4896533" cy="3766337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BFFF572-5D92-484C-9F0A-CF34D5D0C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567" y="1690550"/>
            <a:ext cx="4071486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It Works: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HTML page loads.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browser reads and runs the code inside script.js.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 alert box appears, and a message is logged in the console.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427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7EB7-6293-4804-A863-ECC6A2E32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14400"/>
            <a:ext cx="10058400" cy="1222408"/>
          </a:xfrm>
        </p:spPr>
        <p:txBody>
          <a:bodyPr/>
          <a:lstStyle/>
          <a:p>
            <a:r>
              <a:rPr lang="en-US" sz="2800" b="1" dirty="0"/>
              <a:t>Advantages of External JavaScript: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3EA09-4936-4208-8505-3EC65A097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16800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Cleaner Code:</a:t>
            </a:r>
            <a:r>
              <a:rPr lang="en-US" dirty="0"/>
              <a:t> Keeps HTML and JavaScript separate.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Reusability:</a:t>
            </a:r>
            <a:r>
              <a:rPr lang="en-US" dirty="0"/>
              <a:t> Use the same script on multiple pages.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Better Performance:</a:t>
            </a:r>
            <a:r>
              <a:rPr lang="en-US" dirty="0"/>
              <a:t> HTML loads first, scripts later.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596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DF97D-9A99-4A88-8B4A-AC8DE9711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JavaScript 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4D52-77D9-4448-AD55-D51577CD0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Identifiers in JavaScript are the names you give to variables, functions, objects, and other entities. They follow specific rules and conventions.</a:t>
            </a:r>
          </a:p>
          <a:p>
            <a:endParaRPr lang="en-US" dirty="0"/>
          </a:p>
          <a:p>
            <a:r>
              <a:rPr lang="en-US" b="1" dirty="0"/>
              <a:t>Valid Identifiers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2C554-6A7A-4A04-BB9D-68F2CB991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403" y="3582775"/>
            <a:ext cx="4820011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69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16F9-0412-49BA-B972-747DFDC3C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24563"/>
          </a:xfrm>
        </p:spPr>
        <p:txBody>
          <a:bodyPr>
            <a:normAutofit/>
          </a:bodyPr>
          <a:lstStyle/>
          <a:p>
            <a:r>
              <a:rPr lang="en-US" sz="2800" b="1" dirty="0"/>
              <a:t>Rules for JavaScript Identifiers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4B980F-A054-45D8-B070-E329390571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672201"/>
            <a:ext cx="9006825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Allowed Characters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Identifiers can include: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Letters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a-z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A-Z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Digits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0-9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–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cannot be the first character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Underscores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Dollar signs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Start with a Number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Valid: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name1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❌ Invalid: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1name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Case-Sensitive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myVariable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myvariable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Reserved Keywords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JavaScript reserved words like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function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class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795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49E3-E843-4167-91DD-E7D48F90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JavaScript keywords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C6D778-2EF6-4DC2-8A0C-0610E57E4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61932"/>
            <a:ext cx="8804013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Declaration Keywords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declare a variable (e.g.,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 name = "John";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Declares a variable with block scope (e.g.,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let age = 25;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Declares a constant value (e.g.,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 pi = 3.14;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34829BC-ACF7-4CFB-B724-60B5AFFB0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" y="3697418"/>
            <a:ext cx="1007711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✅ </a:t>
            </a: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Function and Class Keywords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Declares a function (e.g., function greet() { ... }).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Sends a value from a function (e.g., return "Hello";).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Defines a class (e.g., class Car { constructor() { ... } }).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extends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Inherits from another class (e.g., class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ElectricCar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extends Car { ... }).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845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134E5B-1BD0-451A-8066-CEEF29DC7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798577"/>
            <a:ext cx="6651057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✅ Control Flow Keywords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Runs code if a condition is true (e.g., if (age &gt; 18) { ... }).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Runs code if the condition is false (e.g., else { ... }).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switch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Checks multiple cases (e.g., switch(day) { case "Monday": ... }).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Loops through code (e.g., for (let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0;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&lt; 5;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++) { ... }).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Loops while a condition is true (e.g., while (x &lt; 10) { ... }).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break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Stops a loop (e.g., break;).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continue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Skips to the next loop iteration (e.g., continue;).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32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F39F30-1A1D-47E3-B917-DABF231AB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2665" y="641281"/>
            <a:ext cx="5707781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✅ Error Handling Keywords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Tests a block of code (e.g., try { ... }).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catch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Handles errors (e.g., catch (error) { ... }).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throw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Manually throws an error (e.g., throw "Error!";).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3BE68A-A8EF-4E88-94D2-3901BE81C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663" y="2549496"/>
            <a:ext cx="7180446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✅ Object and Module Keywords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Refers to the current object (e.g., this.name = "Car";).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Creates a new object (e.g., let car = new Car();).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Imports from another module (e.g., import { sum } from './math.js';).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Shares code with other files (e.g., export function add() { ... }).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71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C99BA8-57EB-4182-8743-8A611EAFA067}"/>
              </a:ext>
            </a:extLst>
          </p:cNvPr>
          <p:cNvSpPr txBox="1"/>
          <p:nvPr/>
        </p:nvSpPr>
        <p:spPr>
          <a:xfrm>
            <a:off x="1571324" y="172268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JavaScript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7373C-566F-43E6-AB1D-A4818D35C834}"/>
              </a:ext>
            </a:extLst>
          </p:cNvPr>
          <p:cNvSpPr txBox="1"/>
          <p:nvPr/>
        </p:nvSpPr>
        <p:spPr>
          <a:xfrm>
            <a:off x="1564105" y="707804"/>
            <a:ext cx="83306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 </a:t>
            </a:r>
            <a:r>
              <a:rPr lang="en-US" sz="2000" b="1" dirty="0"/>
              <a:t>JavaScript</a:t>
            </a:r>
            <a:r>
              <a:rPr lang="en-US" sz="2000" dirty="0"/>
              <a:t>, </a:t>
            </a:r>
            <a:r>
              <a:rPr lang="en-US" sz="2000" b="1" dirty="0"/>
              <a:t>values</a:t>
            </a:r>
            <a:r>
              <a:rPr lang="en-US" sz="2000" dirty="0"/>
              <a:t> are the data that variables hold or represent. These values fall into two main categories: </a:t>
            </a:r>
            <a:r>
              <a:rPr lang="en-US" sz="2000" b="1" dirty="0"/>
              <a:t>primitive</a:t>
            </a:r>
            <a:r>
              <a:rPr lang="en-US" sz="2000" dirty="0"/>
              <a:t> and </a:t>
            </a:r>
            <a:r>
              <a:rPr lang="en-US" sz="2000" b="1" dirty="0"/>
              <a:t>non-primitive</a:t>
            </a:r>
            <a:r>
              <a:rPr lang="en-US" sz="2000" dirty="0"/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A3B0727-E84E-42E6-A14E-ACDDD0C73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324" y="1427791"/>
            <a:ext cx="722857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✅ 1. Primitive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(Simple values that cannot be changed.)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Number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Represents numeric data.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Example: let age = 25;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Represents text.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Example: let name = "John";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Boolean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Represents true or false.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Example: let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isHappy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true;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Undefined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 variable with no assigned value.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Example: let color;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Represents no value or an empty value.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Example: let car = null;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BigInt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Holds very large numbers.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Example: let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bigNumber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12345678901234567890n;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Symbol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 unique value used for object properties.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👉 Example: let id = Symbol('id');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757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BA23E3-2659-4EA1-B336-E24F24B29B8D}"/>
              </a:ext>
            </a:extLst>
          </p:cNvPr>
          <p:cNvSpPr txBox="1"/>
          <p:nvPr/>
        </p:nvSpPr>
        <p:spPr>
          <a:xfrm>
            <a:off x="1277753" y="15703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</a:t>
            </a:r>
            <a:r>
              <a:rPr lang="en-US" b="1" dirty="0"/>
              <a:t>2. Non-Primitive (Reference) Values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E6C074-8AE4-49FA-8CC9-9C7C24A5025C}"/>
              </a:ext>
            </a:extLst>
          </p:cNvPr>
          <p:cNvSpPr txBox="1"/>
          <p:nvPr/>
        </p:nvSpPr>
        <p:spPr>
          <a:xfrm>
            <a:off x="1451008" y="80192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Object</a:t>
            </a:r>
            <a:r>
              <a:rPr lang="en-US" dirty="0"/>
              <a:t> – Stores data in key-value pairs.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DED136-2310-4F83-AC3D-F5FB4EACF90D}"/>
              </a:ext>
            </a:extLst>
          </p:cNvPr>
          <p:cNvSpPr txBox="1"/>
          <p:nvPr/>
        </p:nvSpPr>
        <p:spPr>
          <a:xfrm>
            <a:off x="2336533" y="126214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 person = { name: "Alice", age: 30 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1F8909-5909-44E3-AF6E-4A65F8461CDF}"/>
              </a:ext>
            </a:extLst>
          </p:cNvPr>
          <p:cNvSpPr txBox="1"/>
          <p:nvPr/>
        </p:nvSpPr>
        <p:spPr>
          <a:xfrm>
            <a:off x="1451008" y="167335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.</a:t>
            </a:r>
            <a:r>
              <a:rPr lang="en-US" b="1" dirty="0"/>
              <a:t> Array</a:t>
            </a:r>
            <a:r>
              <a:rPr lang="en-US" dirty="0"/>
              <a:t> – Holds an ordered list of items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1F911-5B25-4604-ADC1-6431159EC7DE}"/>
              </a:ext>
            </a:extLst>
          </p:cNvPr>
          <p:cNvSpPr txBox="1"/>
          <p:nvPr/>
        </p:nvSpPr>
        <p:spPr>
          <a:xfrm>
            <a:off x="2372628" y="2146259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 fruits = ["apple", "banana", "cherry"];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90B75D-D761-4A26-928F-39C007ED4DD8}"/>
              </a:ext>
            </a:extLst>
          </p:cNvPr>
          <p:cNvSpPr txBox="1"/>
          <p:nvPr/>
        </p:nvSpPr>
        <p:spPr>
          <a:xfrm>
            <a:off x="1451008" y="266324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Function</a:t>
            </a:r>
            <a:r>
              <a:rPr lang="en-US" dirty="0"/>
              <a:t> – A reusable block of code.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5622B3-386A-40CA-A6CD-C952816BD549}"/>
              </a:ext>
            </a:extLst>
          </p:cNvPr>
          <p:cNvSpPr txBox="1"/>
          <p:nvPr/>
        </p:nvSpPr>
        <p:spPr>
          <a:xfrm>
            <a:off x="2432785" y="3228654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greet() {</a:t>
            </a:r>
          </a:p>
          <a:p>
            <a:r>
              <a:rPr lang="en-US" dirty="0"/>
              <a:t>  return "Hello!";</a:t>
            </a:r>
          </a:p>
          <a:p>
            <a:r>
              <a:rPr lang="en-US" dirty="0"/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DF9C68-F848-4372-BF57-59AD34BD946F}"/>
              </a:ext>
            </a:extLst>
          </p:cNvPr>
          <p:cNvSpPr txBox="1"/>
          <p:nvPr/>
        </p:nvSpPr>
        <p:spPr>
          <a:xfrm>
            <a:off x="1525603" y="4244317"/>
            <a:ext cx="655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Date</a:t>
            </a:r>
            <a:r>
              <a:rPr lang="en-US" dirty="0"/>
              <a:t> – Represents a date and time.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F5EB6D-2ED8-489B-BFD1-20660F58FF2E}"/>
              </a:ext>
            </a:extLst>
          </p:cNvPr>
          <p:cNvSpPr txBox="1"/>
          <p:nvPr/>
        </p:nvSpPr>
        <p:spPr>
          <a:xfrm>
            <a:off x="2372628" y="4865047"/>
            <a:ext cx="655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 today = new Date();</a:t>
            </a:r>
          </a:p>
        </p:txBody>
      </p:sp>
    </p:spTree>
    <p:extLst>
      <p:ext uri="{BB962C8B-B14F-4D97-AF65-F5344CB8AC3E}">
        <p14:creationId xmlns:p14="http://schemas.microsoft.com/office/powerpoint/2010/main" val="2973350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A79C-F1DA-431B-82FA-92D150F15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Var, let const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E6168E-02C4-4DE1-BC0D-97FA4128EA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34842"/>
            <a:ext cx="101186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Block-scoped, can be updated but not re-declared.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Block-scoped, cannot be updated or re-declared (for primitive values).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Function-scoped, can be re-declared and updated. </a:t>
            </a:r>
          </a:p>
        </p:txBody>
      </p:sp>
    </p:spTree>
    <p:extLst>
      <p:ext uri="{BB962C8B-B14F-4D97-AF65-F5344CB8AC3E}">
        <p14:creationId xmlns:p14="http://schemas.microsoft.com/office/powerpoint/2010/main" val="3353193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9439-840F-43B8-B48F-415D85112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Scope in JavaScript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942F0E-C15C-4A49-BEB3-B583141D6A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81704"/>
            <a:ext cx="100584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Scope in JavaScript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defines where variables and functions can be accessed in your code. It comes in three types: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Global Scope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Accessible anywhere in the code.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Function Scope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Accessible only inside the function where it's declared.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Block Scope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Accessible only within the block {} where it's defined (with let and const).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091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2D6D-93CE-4391-B97C-8CE7C6D05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2110088"/>
          </a:xfrm>
        </p:spPr>
        <p:txBody>
          <a:bodyPr>
            <a:normAutofit/>
          </a:bodyPr>
          <a:lstStyle/>
          <a:p>
            <a:r>
              <a:rPr lang="en-US" sz="3100" b="1" dirty="0"/>
              <a:t>JavaScript Hoisting &amp; Variable Hoisting: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B7745-E756-4594-AF35-8B33FD986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JavaScript Hoisting:</a:t>
            </a:r>
          </a:p>
          <a:p>
            <a:r>
              <a:rPr lang="en-US" dirty="0"/>
              <a:t>It is the process where </a:t>
            </a:r>
            <a:r>
              <a:rPr lang="en-US" b="1" dirty="0"/>
              <a:t>variable</a:t>
            </a:r>
            <a:r>
              <a:rPr lang="en-US" dirty="0"/>
              <a:t> and </a:t>
            </a:r>
            <a:r>
              <a:rPr lang="en-US" b="1" dirty="0"/>
              <a:t>function</a:t>
            </a:r>
            <a:r>
              <a:rPr lang="en-US" dirty="0"/>
              <a:t> declarations are moved to the </a:t>
            </a:r>
            <a:r>
              <a:rPr lang="en-US" b="1" dirty="0"/>
              <a:t>top</a:t>
            </a:r>
            <a:r>
              <a:rPr lang="en-US" dirty="0"/>
              <a:t> of their scope during execution.</a:t>
            </a:r>
          </a:p>
          <a:p>
            <a:r>
              <a:rPr lang="en-US" b="1" dirty="0"/>
              <a:t>Variable Hoisting:</a:t>
            </a:r>
          </a:p>
          <a:p>
            <a:r>
              <a:rPr lang="en-US" dirty="0"/>
              <a:t>In JavaScript, variables declared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var</a:t>
            </a:r>
            <a:r>
              <a:rPr lang="en-US" dirty="0"/>
              <a:t> are hoisted and initialized as </a:t>
            </a:r>
            <a:r>
              <a:rPr lang="en-US" b="1" dirty="0"/>
              <a:t>undefined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let</a:t>
            </a:r>
            <a:r>
              <a:rPr lang="en-US" dirty="0"/>
              <a:t> and </a:t>
            </a:r>
            <a:r>
              <a:rPr lang="en-US" b="1" dirty="0"/>
              <a:t>const</a:t>
            </a:r>
            <a:r>
              <a:rPr lang="en-US" dirty="0"/>
              <a:t> are hoisted but </a:t>
            </a:r>
            <a:r>
              <a:rPr lang="en-US" b="1" dirty="0"/>
              <a:t>not initialized</a:t>
            </a:r>
            <a:r>
              <a:rPr lang="en-US" dirty="0"/>
              <a:t>, causing a </a:t>
            </a:r>
            <a:r>
              <a:rPr lang="en-US" b="1" dirty="0"/>
              <a:t>Reference Error</a:t>
            </a:r>
            <a:r>
              <a:rPr lang="en-US" dirty="0"/>
              <a:t> if accessed before declaration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167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D525-6D1B-4283-A82D-6246AFF6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Conclusion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0BF87-C57F-40FD-9293-4FBF5D056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JavaScript is a </a:t>
            </a:r>
            <a:r>
              <a:rPr lang="en-US" sz="2400" b="1" dirty="0"/>
              <a:t>powerful and versatile</a:t>
            </a:r>
            <a:r>
              <a:rPr lang="en-US" sz="2400" dirty="0"/>
              <a:t> programming language for web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Understanding </a:t>
            </a:r>
            <a:r>
              <a:rPr lang="en-US" sz="2400" b="1" dirty="0"/>
              <a:t>variables, scope, hoisting, and data types</a:t>
            </a:r>
            <a:r>
              <a:rPr lang="en-US" sz="2400" dirty="0"/>
              <a:t> is essential for writing efficient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Concepts like </a:t>
            </a:r>
            <a:r>
              <a:rPr lang="en-US" sz="2400" b="1" dirty="0"/>
              <a:t>let, const, var, functions, and event handling</a:t>
            </a:r>
            <a:r>
              <a:rPr lang="en-US" sz="2400" dirty="0"/>
              <a:t> help build interactive web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Mastering the </a:t>
            </a:r>
            <a:r>
              <a:rPr lang="en-US" sz="2400" b="1" dirty="0"/>
              <a:t>basics</a:t>
            </a:r>
            <a:r>
              <a:rPr lang="en-US" sz="2400" dirty="0"/>
              <a:t> lays a strong foundation for advanced JavaScript topics like </a:t>
            </a:r>
            <a:r>
              <a:rPr lang="en-US" sz="2400" b="1" dirty="0"/>
              <a:t>DOM manipulation, asynchronous programming, and frameworks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9337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821</TotalTime>
  <Words>1621</Words>
  <Application>Microsoft Office PowerPoint</Application>
  <PresentationFormat>Widescreen</PresentationFormat>
  <Paragraphs>173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Unicode MS</vt:lpstr>
      <vt:lpstr>Calibri</vt:lpstr>
      <vt:lpstr>Calibri Light</vt:lpstr>
      <vt:lpstr>Wingdings</vt:lpstr>
      <vt:lpstr>Retrospect</vt:lpstr>
      <vt:lpstr>Introduction to JavaScript– Basic Facts</vt:lpstr>
      <vt:lpstr>What is JavaScript?</vt:lpstr>
      <vt:lpstr>Why Study JavaScript?</vt:lpstr>
      <vt:lpstr>What Can JavaScript Do?</vt:lpstr>
      <vt:lpstr>A simple javascript programe….</vt:lpstr>
      <vt:lpstr>JavaScript syntax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of External JavaScript: </vt:lpstr>
      <vt:lpstr>JavaScript Identifiers</vt:lpstr>
      <vt:lpstr>Rules for JavaScript Identifiers</vt:lpstr>
      <vt:lpstr>JavaScript keywords</vt:lpstr>
      <vt:lpstr>PowerPoint Presentation</vt:lpstr>
      <vt:lpstr>PowerPoint Presentation</vt:lpstr>
      <vt:lpstr>PowerPoint Presentation</vt:lpstr>
      <vt:lpstr>PowerPoint Presentation</vt:lpstr>
      <vt:lpstr>Var, let const</vt:lpstr>
      <vt:lpstr>Scope in JavaScript</vt:lpstr>
      <vt:lpstr>JavaScript Hoisting &amp; Variable Hoisting: 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</dc:title>
  <dc:creator>Anood Nazeer</dc:creator>
  <cp:lastModifiedBy>Anood Nazeer</cp:lastModifiedBy>
  <cp:revision>22</cp:revision>
  <dcterms:created xsi:type="dcterms:W3CDTF">2025-03-13T00:19:23Z</dcterms:created>
  <dcterms:modified xsi:type="dcterms:W3CDTF">2025-03-13T14:02:46Z</dcterms:modified>
</cp:coreProperties>
</file>